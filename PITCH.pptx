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</a:rPr>
              <a:t>Car-Type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C9D8EC"/>
                </a:solidFill>
              </a:rPr>
              <a:t>Fine-grained make / model / year from a single photo (196 classes)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9C2E0"/>
                </a:solidFill>
              </a:rPr>
              <a:t>540 Module 1 Project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A9C2E0"/>
                </a:solidFill>
              </a:rPr>
              <a:t>Live demo:  https://HanfuZhao781-car-recognition.hf.space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A9C2E0"/>
                </a:solidFill>
              </a:rPr>
              <a:t>Code:  https://github.com/hanfuzhao/Module1-CarRecognition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A9C2E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1">
                <a:solidFill>
                  <a:srgbClr val="444444"/>
                </a:solidFill>
              </a:rPr>
              <a:t>- Identify a car's exact make / model / year from one photo, e.g. Aston Martin Virage Coupe 2012.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444444"/>
                </a:solidFill>
              </a:rPr>
              <a:t>- Fine-grained: 196 classes that differ by a grille, a badge, or a single model year.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444444"/>
                </a:solidFill>
              </a:rPr>
              <a:t>- Powers real products: marketplace listings, insurance intake, instant valuation.</a:t>
            </a:r>
          </a:p>
          <a:p>
            <a:pPr algn="l">
              <a:spcAft>
                <a:spcPts val="1400"/>
              </a:spcAft>
            </a:pPr>
            <a:r>
              <a:rPr sz="2100" b="1">
                <a:solidFill>
                  <a:srgbClr val="444444"/>
                </a:solidFill>
              </a:rPr>
              <a:t>- Two failure modes that matter in production:</a:t>
            </a:r>
          </a:p>
          <a:p>
            <a:pPr algn="l" lvl="1">
              <a:spcAft>
                <a:spcPts val="1400"/>
              </a:spcAft>
            </a:pPr>
            <a:r>
              <a:rPr sz="1900" b="0">
                <a:solidFill>
                  <a:srgbClr val="444444"/>
                </a:solidFill>
              </a:rPr>
              <a:t>  - Look-alikes (rebadged twins, same-model trims) cap achievable accuracy.</a:t>
            </a:r>
          </a:p>
          <a:p>
            <a:pPr algn="l" lvl="1">
              <a:spcAft>
                <a:spcPts val="1400"/>
              </a:spcAft>
            </a:pPr>
            <a:r>
              <a:rPr sz="1900" b="0">
                <a:solidFill>
                  <a:srgbClr val="444444"/>
                </a:solidFill>
              </a:rPr>
              <a:t>  - Bad user photos: a confident wrong answer is worse than an honest "I'm not sure."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Data: Stanford Cars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A9C2E0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6692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444444"/>
                </a:solidFill>
              </a:rPr>
              <a:t>- 8,144 training and 8,041 test images, 196 classes.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444444"/>
                </a:solidFill>
              </a:rPr>
              <a:t>- Source: Stanford Cars (tanganke mirror on Hugging Face).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444444"/>
                </a:solidFill>
              </a:rPr>
              <a:t>- Near-balanced (max/min = 2.83), so robustness, not long-tail, is the experiment.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444444"/>
                </a:solidFill>
              </a:rPr>
              <a:t>- Mirror also ships 7 corruption variants, used for the robustness test.</a:t>
            </a:r>
          </a:p>
        </p:txBody>
      </p:sp>
      <p:pic>
        <p:nvPicPr>
          <p:cNvPr id="6" name="Picture 5" descr="s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9496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Approach: three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A9C2E0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>
                <a:solidFill>
                  <a:srgbClr val="444444"/>
                </a:solidFill>
              </a:rPr>
              <a:t>- Naive baseline: majority / random (performance floor).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444444"/>
                </a:solidFill>
              </a:rPr>
              <a:t>- Classical: HOG features into a linear SVM (no learned features).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444444"/>
                </a:solidFill>
              </a:rPr>
              <a:t>- Deep (deployed): frozen ImageNet ResNet50 features + a trained MLP head.</a:t>
            </a:r>
          </a:p>
          <a:p>
            <a:pPr algn="l" lvl="1">
              <a:spcAft>
                <a:spcPts val="1200"/>
              </a:spcAft>
            </a:pPr>
            <a:r>
              <a:rPr sz="1900" b="0">
                <a:solidFill>
                  <a:srgbClr val="444444"/>
                </a:solidFill>
              </a:rPr>
              <a:t>  - Freezing the backbone keeps the shipped artifact ~4.6 MB; backbone fetched at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572000"/>
            <a:ext cx="11091672" cy="15544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F3A5F"/>
                </a:solidFill>
              </a:rPr>
              <a:t>Novelty = insight, not chasing SOTA: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1F3A5F"/>
                </a:solidFill>
              </a:rPr>
              <a:t>profile corruption robustness, and add confidence-gated abstention that targets the two failure modes.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Results (test set, 8,041 images)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A9C2E0"/>
                </a:solidFill>
              </a:rPr>
              <a:t>4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583680" cy="37621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554480"/>
            <a:ext cx="4572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444444"/>
                </a:solidFill>
              </a:rPr>
              <a:t>- Naive majority: 0.85%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444444"/>
                </a:solidFill>
              </a:rPr>
              <a:t>- Classical HOG + SVM: 4.41%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444444"/>
                </a:solidFill>
              </a:rPr>
              <a:t>- Deep ResNet50 + MLP: 52.16% top-1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444444"/>
                </a:solidFill>
              </a:rPr>
              <a:t>- Deep top-5: 79.98%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444444"/>
                </a:solidFill>
              </a:rPr>
              <a:t>- Transfer learning does the real work; hand-crafted HOG cannot crack fine-grained recognition.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What the model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A9C2E0"/>
                </a:solidFill>
              </a:rPr>
              <a:t>5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705856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554480"/>
            <a:ext cx="5943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444444"/>
                </a:solidFill>
              </a:rPr>
              <a:t>- Top confusions are not random:</a:t>
            </a:r>
          </a:p>
          <a:p>
            <a:pPr algn="l" lvl="1">
              <a:spcAft>
                <a:spcPts val="1200"/>
              </a:spcAft>
            </a:pPr>
            <a:r>
              <a:rPr sz="1700" b="0">
                <a:solidFill>
                  <a:srgbClr val="444444"/>
                </a:solidFill>
              </a:rPr>
              <a:t>  - Chevrolet Express vs GMC Savana (16)</a:t>
            </a:r>
          </a:p>
          <a:p>
            <a:pPr algn="l" lvl="1">
              <a:spcAft>
                <a:spcPts val="1200"/>
              </a:spcAft>
            </a:pPr>
            <a:r>
              <a:rPr sz="1700" b="0">
                <a:solidFill>
                  <a:srgbClr val="444444"/>
                </a:solidFill>
              </a:rPr>
              <a:t>  - Dodge vs Mercedes Sprinter (14)</a:t>
            </a:r>
          </a:p>
          <a:p>
            <a:pPr algn="l" lvl="1">
              <a:spcAft>
                <a:spcPts val="1200"/>
              </a:spcAft>
            </a:pPr>
            <a:r>
              <a:rPr sz="1700" b="0">
                <a:solidFill>
                  <a:srgbClr val="444444"/>
                </a:solidFill>
              </a:rPr>
              <a:t>  - Audi TTS vs Audi TT (12)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44444"/>
                </a:solidFill>
              </a:rPr>
              <a:t>- The Express/Savana and Sprinter pairs are literally the same van sold under two brands.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44444"/>
                </a:solidFill>
              </a:rPr>
              <a:t>- Errors sit at the edge of what is visually separable, evidence the model learned real 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Experiment: corruption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A9C2E0"/>
                </a:solidFill>
              </a:rPr>
              <a:t>6</a:t>
            </a:r>
          </a:p>
        </p:txBody>
      </p:sp>
      <p:pic>
        <p:nvPicPr>
          <p:cNvPr id="5" name="Picture 4" descr="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583680" cy="37621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554480"/>
            <a:ext cx="4572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444444"/>
                </a:solidFill>
              </a:rPr>
              <a:t>- Robust to JPEG (+2pt) and motion blur (+1pt).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444444"/>
                </a:solidFill>
              </a:rPr>
              <a:t>- Gaussian noise costs ~6pt.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444444"/>
                </a:solidFill>
              </a:rPr>
              <a:t>- Pixelation is catastrophic: -51pt, near chance.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444444"/>
                </a:solidFill>
              </a:rPr>
              <a:t>- Deployment warning: thumbnails / over-compressed inputs fail silently.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Experiment: confidence gating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A9C2E0"/>
                </a:solidFill>
              </a:rPr>
              <a:t>7</a:t>
            </a:r>
          </a:p>
        </p:txBody>
      </p:sp>
      <p:pic>
        <p:nvPicPr>
          <p:cNvPr id="5" name="Picture 4" descr="confidenc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583680" cy="37621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554480"/>
            <a:ext cx="4572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444444"/>
                </a:solidFill>
              </a:rPr>
              <a:t>- Abstain on low-confidence inputs to trade coverage for accuracy.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444444"/>
                </a:solidFill>
              </a:rPr>
              <a:t>- 79% accuracy at 43% coverage.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444444"/>
                </a:solidFill>
              </a:rPr>
              <a:t>- 90% accuracy at 19% coverage.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444444"/>
                </a:solidFill>
              </a:rPr>
              <a:t>- A 52% model becomes a 90%-on-accepted experience, with no retraining.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444444"/>
                </a:solidFill>
              </a:rPr>
              <a:t>- Shipped in the app: threshold 0.40 asks the user for a clearer photo.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</a:rPr>
              <a:t>An honest, deployable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C9D8EC"/>
                </a:solidFill>
              </a:rPr>
              <a:t>- Three models on real data: deep model reaches 52% top-1 / 80% top-5.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C9D8EC"/>
                </a:solidFill>
              </a:rPr>
              <a:t>- Learned real structure; failure analyzed (pixelation collapse).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C9D8EC"/>
                </a:solidFill>
              </a:rPr>
              <a:t>- Confidence gating turns it into a 90%-on-accepted product experience.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C9D8EC"/>
                </a:solidFill>
              </a:rPr>
              <a:t>- Live, public, inference-only web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</a:rPr>
              <a:t>Live demo:  https://HanfuZhao781-car-recognition.hf.space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</a:rPr>
              <a:t>Code:  https://github.com/hanfuzhao/Module1-CarRecognition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